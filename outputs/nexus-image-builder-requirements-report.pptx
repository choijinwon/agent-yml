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196a2222b4b5f" /><Relationship Type="http://schemas.openxmlformats.org/officeDocument/2006/relationships/extended-properties" Target="/docProps/app.xml" Id="R7c3d8dc14fa74d75" /><Relationship Type="http://schemas.openxmlformats.org/officeDocument/2006/relationships/officeDocument" Target="/ppt/presentation.xml" Id="R79f7800ab55346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81587507b4802"/>
  </p:sldMasterIdLst>
  <p:notesMasterIdLst>
    <p:notesMasterId xmlns:r="http://schemas.openxmlformats.org/officeDocument/2006/relationships" r:id="R4c53dc7fb27844d0"/>
  </p:notesMasterIdLst>
  <p:sldIdLst>
    <p:sldId xmlns:r="http://schemas.openxmlformats.org/officeDocument/2006/relationships" id="256" r:id="Rcebc5b746c0e4edc"/>
    <p:sldId xmlns:r="http://schemas.openxmlformats.org/officeDocument/2006/relationships" id="257" r:id="Rc6e9883b84c9450a"/>
    <p:sldId xmlns:r="http://schemas.openxmlformats.org/officeDocument/2006/relationships" id="258" r:id="R8ddb260ecca2474d"/>
    <p:sldId xmlns:r="http://schemas.openxmlformats.org/officeDocument/2006/relationships" id="259" r:id="R8967ab1a63e94c4d"/>
    <p:sldId xmlns:r="http://schemas.openxmlformats.org/officeDocument/2006/relationships" id="260" r:id="R824162a5bf9543ee"/>
    <p:sldId xmlns:r="http://schemas.openxmlformats.org/officeDocument/2006/relationships" id="261" r:id="R7db0b8bd2a6347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9a5873643d4348" /><Relationship Type="http://schemas.openxmlformats.org/officeDocument/2006/relationships/slideMaster" Target="/ppt/slideMasters/slideMaster1.xml" Id="R2da81587507b4802" /><Relationship Type="http://schemas.openxmlformats.org/officeDocument/2006/relationships/notesMaster" Target="/ppt/notesMasters/notesMaster1.xml" Id="R4c53dc7fb27844d0" /><Relationship Type="http://schemas.openxmlformats.org/officeDocument/2006/relationships/presProps" Target="/ppt/presProps.xml" Id="Ra4cd94cde2cb48e7" /><Relationship Type="http://schemas.openxmlformats.org/officeDocument/2006/relationships/tableStyles" Target="/ppt/tableStyles.xml" Id="Ree3f61860e324f16" /><Relationship Type="http://schemas.openxmlformats.org/officeDocument/2006/relationships/slide" Target="/ppt/slides/slide1.xml" Id="Rcebc5b746c0e4edc" /><Relationship Type="http://schemas.openxmlformats.org/officeDocument/2006/relationships/slide" Target="/ppt/slides/slide2.xml" Id="Rc6e9883b84c9450a" /><Relationship Type="http://schemas.openxmlformats.org/officeDocument/2006/relationships/slide" Target="/ppt/slides/slide3.xml" Id="R8ddb260ecca2474d" /><Relationship Type="http://schemas.openxmlformats.org/officeDocument/2006/relationships/slide" Target="/ppt/slides/slide4.xml" Id="R8967ab1a63e94c4d" /><Relationship Type="http://schemas.openxmlformats.org/officeDocument/2006/relationships/slide" Target="/ppt/slides/slide5.xml" Id="R824162a5bf9543ee" /><Relationship Type="http://schemas.openxmlformats.org/officeDocument/2006/relationships/slide" Target="/ppt/slides/slide6.xml" Id="R7db0b8bd2a63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3a71d8f04f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077a4c5fa84e0d" /><Relationship Type="http://schemas.openxmlformats.org/officeDocument/2006/relationships/notesMaster" Target="/ppt/notesMasters/notesMaster1.xml" Id="R34159b3bd6454a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cd3124ae5640ba" /><Relationship Type="http://schemas.openxmlformats.org/officeDocument/2006/relationships/notesMaster" Target="/ppt/notesMasters/notesMaster1.xml" Id="R69f56f987a92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ef2238ff74ef1" /><Relationship Type="http://schemas.openxmlformats.org/officeDocument/2006/relationships/notesMaster" Target="/ppt/notesMasters/notesMaster1.xml" Id="Rcfeff5a83509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69ede98cf4401b" /><Relationship Type="http://schemas.openxmlformats.org/officeDocument/2006/relationships/notesMaster" Target="/ppt/notesMasters/notesMaster1.xml" Id="Rafffb0484c6f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98638e615f48ba" /><Relationship Type="http://schemas.openxmlformats.org/officeDocument/2006/relationships/notesMaster" Target="/ppt/notesMasters/notesMaster1.xml" Id="R6b065425a82b45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35fe94dd4a41a6" /><Relationship Type="http://schemas.openxmlformats.org/officeDocument/2006/relationships/notesMaster" Target="/ppt/notesMasters/notesMaster1.xml" Id="Ra327ca1af066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d20003612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fe63dbc084912" /><Relationship Type="http://schemas.openxmlformats.org/officeDocument/2006/relationships/slideLayout" Target="/ppt/slideLayouts/slideLayout1.xml" Id="R7f545650e48f49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45650e48f49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c9ecc07ea4d02" /><Relationship Type="http://schemas.openxmlformats.org/officeDocument/2006/relationships/notesSlide" Target="/ppt/notesSlides/notesSlide1.xml" Id="Rdc9aa11ad4d1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ae880c5064c28" /><Relationship Type="http://schemas.openxmlformats.org/officeDocument/2006/relationships/notesSlide" Target="/ppt/notesSlides/notesSlide2.xml" Id="R8d712c423aee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44ab91ba4806" /><Relationship Type="http://schemas.openxmlformats.org/officeDocument/2006/relationships/notesSlide" Target="/ppt/notesSlides/notesSlide3.xml" Id="Rc6a80d89b5d746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805823beb4763" /><Relationship Type="http://schemas.openxmlformats.org/officeDocument/2006/relationships/image" Target="/ppt/media/image.png" Id="Rdac262e8a3f84354" /><Relationship Type="http://schemas.openxmlformats.org/officeDocument/2006/relationships/notesSlide" Target="/ppt/notesSlides/notesSlide4.xml" Id="Rf10edd41b8d6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6ab5cc92f435e" /><Relationship Type="http://schemas.openxmlformats.org/officeDocument/2006/relationships/notesSlide" Target="/ppt/notesSlides/notesSlide5.xml" Id="R8b6ddd8af9ee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1a687ad364fd7" /><Relationship Type="http://schemas.openxmlformats.org/officeDocument/2006/relationships/notesSlide" Target="/ppt/notesSlides/notesSlide6.xml" Id="Re64dcac016054b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78435-2B2B-4377-9A01-084CAD3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보고용 요구사항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47388-5D10-447B-9B40-78AF667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33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AI/ML 이미지 빌더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개선 요구사항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E73CC-2655-465A-BC29-E5D38B64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Argo Workflow, BuildKit, Harbor, Runtime Lineage를 기준으로 빌드 병목과 운영 리스크를 줄이는 표준 아키텍처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73125-5129-4BA8-B563-7AFEC0EA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000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7A917-CF5D-4173-A614-DB73CEF3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wheel-only 저장소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61BA6-DE8A-407B-BEBA-13E7DFF8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81907-4E55-4DCC-83FF-5E3F50A7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862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Runtime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BB080-C146-4B1F-82AE-AED491E3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2857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A7F33-DF03-4AA6-A6C9-62A8E13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386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Security &amp; Reproducibility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8B3C6-E1DC-4F2D-AEE6-9E1D77C0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90600"/>
            <a:ext cx="2343150" cy="3905250"/>
          </a:xfrm>
          <a:prstGeom xmlns:a="http://schemas.openxmlformats.org/drawingml/2006/main" prst="roundRect">
            <a:avLst>
              <a:gd name="adj" fmla="val 8943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28EBC-3E37-495E-8656-4DF9019E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29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핵심 결론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0278-0E93-4642-88CA-A9448B7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1695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다운로드 자체보다 빌드 구조, 레이어 캐시, Runtime Contract, 보안·재현성 정책을 Builder에 내장하는 것이 개선의 핵심입니다.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59AE1-0EC4-4447-B624-51FAA2BD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0CAB1-035B-4D94-916F-247CCE8F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2A1C5-CA00-48D8-9EE9-2CB9D0E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0812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5B4AB-FE61-4C6D-823F-1CCC28E4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현재 이슈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5BFED-CB51-486C-846B-BC3336B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빌드 지연의 원인은 다운로드가 아니라 이미지 빌드 구조입니다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B11C4-FF51-4C92-A334-337B94B9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419350" cy="28575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55A03-479B-4274-B617-256DBF7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이미지 비대화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8AAF1-856D-41C9-9269-613109B6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924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학습·서빙·배치를 하나로 묶으면 재사용성과 배포 속도가 떨어집니다.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1C732-54D3-4C9D-8541-AA6D318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90700"/>
            <a:ext cx="2419350" cy="28575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854CB-A16B-4254-9D00-723FE2F6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Dockerfile 수작업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40D09-E8BC-463E-BA68-489407D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924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프로젝트별 Dockerfile 관리로 표준화와 검증 기준이 흩어집니다.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A0B2B-F479-4934-8DB7-04D132E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419350" cy="28575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2E87D-8A8C-4787-B123-07932726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캐시 활용 부족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DF772-2AFD-4937-91B2-4279D100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924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Dependency와 Application Layer가 분리되지 않으면 매번 재설치가 반복됩니다.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EC186-6F7C-48D4-A59E-18DB487C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90700"/>
            <a:ext cx="2419350" cy="285750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0DCEE-BBCF-4873-BAE2-1CB7320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운영 검증 미흡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0A0D9-6458-4FE4-B778-0D92580B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924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Digest, Lock Hash, non-root, Report가 정책으로 강제되지 않으면 재현성이 약해집니다.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379C3-68DF-4FF9-9E0A-B6E59039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04394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66377-A20F-4B4C-A9AC-0B5AF9E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863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개선 방향: Wheel 저장소는 단순화하고, Builder가 Runtime Contract·Dependency Cache·보안/재현성 정책을 책임지게 전환합니다.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88276-09A3-494B-A281-0522E621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017A9-5D5F-4669-AD6A-89C72B56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91987-00E4-4403-A95F-75C7BF0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854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E2DB32-00B0-4A90-9604-DEA50C8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9가지 요구사항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9354E-DD69-4924-AD81-ADA966C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운영 표준은 9개 요구사항으로 정리됩니다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02DF8-5AB8-43DA-9FAA-A1DA3BB7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600A6-7F03-4F25-9BFF-33F0E4E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59882-DCD3-4397-BC7C-BF3762DE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4A907-7551-4E37-B07A-3504F9D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46E90-6F67-4689-98B5-4BACE8F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Runtime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1A937-8143-4D29-8FA4-95676655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공통 실행 환경을 digest 기준으로 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35057-8093-4C6F-93BA-FF2B60B7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621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7416F-8D4E-4AA9-B1AF-CD84EADE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C0076-B963-4FAA-8864-17DCA56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54564-719F-498F-AD93-643E5087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33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047A8-FF15-4CBD-8B98-04C3419F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동일 환경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78831-276C-43F6-B203-1C092365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이미지명이 아니라 ABI·Framework·Python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7E359-3E21-4B43-8467-1B919A75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FEBBF-5FB5-4A30-AF8F-794BFFE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857A2-2310-4813-B280-0C9B5FDB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E0267-FA62-492A-8117-F4DFC961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335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65A25-C5F4-4D05-AB0B-DDB5B9C0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Runtime Lineage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2AE24-F9F8-496F-AD3A-8E1C834F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계열 + 역할 + 프로젝트 기준 이미지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9A713-9691-4B2A-8588-F0C0A785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E2BDF-D937-4830-8B49-97D796F9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F52AD-935C-4FF7-B921-EA858595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2BD74-604F-4351-9BCC-BD0B0A4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D3326-DC67-49A3-A3F2-A2608F76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Training/Serving 분리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FF6E1-3CFD-4CE0-AA5D-2A5F31D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strict와 optimized 패턴 구분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11DD8-9E94-42D4-905A-5A2E69F5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1F0DF1-E294-41EB-AE81-D813E163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EB5EA-A337-430C-A408-651D7C94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C776DA-9751-4701-985B-658DF5A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71E761-1A24-4DF8-9271-7966AAD5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선언형 Builder Spec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C8FA1-49ED-4879-8B23-03C0FFA4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중앙 Spec으로 Layer·검증·Report 관리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84A38-41CA-45A9-899E-6314B5A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337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BE060-9836-4DD8-87FB-95906564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F6AB7-B1E1-4DE3-ADDA-4138D779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F30719-DC32-40F1-B089-F0563568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47260E-77D6-46B7-B7B2-9B11C6E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Multi-stage 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87D249-8539-47B7-8C9B-20487B60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dependency/test/release Target 분리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C81A0-BFD8-45EF-97CC-2DDA8BFE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E9E9F2-6CD1-4CFF-A85E-7AF84F13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FEAA26-5848-419B-959D-BDF8EC14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D211B1-B6DB-4894-ADCE-E0DA6C7E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BAD2B-0B29-4406-B34E-8AE10D6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모델 외부화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8267FB-97E7-4825-9DD3-A964DC1C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00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모델은 이미지가 아닌 외부 Artifact로 주입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11CAC0-3457-4FA7-AA8A-FCFB72AD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904C24-1B53-4308-AD4E-E15F533E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1691DC-3DA4-40C9-8035-6031CFA3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87F8D-1583-4931-95B4-18C36CAC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19E038-7487-45A7-BEE4-639776F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보안·재현성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487174-835F-4042-A894-B5942E64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00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Digest, Lock, non-root, Report 필수화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7CFD11-4D25-407D-8AA1-599563A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33528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03C26D-3E52-4A5F-B57C-DC7025CB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034F29-EAAD-410A-AF68-8725999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999DF4-F1CB-49D6-8C37-74140D9B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461AD0-7670-4A08-9BAA-F4B06430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Wheel 저장소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DD4258-57E6-44C3-9741-184209DD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006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Nexus 기반 wheel-only 다운로드와 Dependency Cache 활용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48612A-C7B0-4AE2-86C6-FA0BD516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9DC8AB-6637-4EC9-943C-16B81B1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FC1A92-B318-40D2-A554-25153D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9448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D4564-BD78-4845-8376-7F2FB34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Target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D58FE-0313-4750-A6D5-D788DF18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목표 구조는 저장소·Harbor·Runtime Lineage·BuildKit 역할을 분리합니다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262e8a3f84354"/>
          <a:stretch xmlns:a="http://schemas.openxmlformats.org/drawingml/2006/main"/>
        </p:blipFill>
        <p:spPr>
          <a:xfrm xmlns:a="http://schemas.openxmlformats.org/drawingml/2006/main">
            <a:off x="2118781" y="1428750"/>
            <a:ext cx="7954438" cy="4476750"/>
          </a:xfrm>
          <a:prstGeom xmlns:a="http://schemas.openxmlformats.org/drawingml/2006/main" prst="roundRect">
            <a:avLst>
              <a:gd name="adj" fmla="val 297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7341A-9783-4203-BFED-565F2379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DCFC4-45A7-4343-A96D-6AE3E87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361F-DEEB-480F-AEDF-69B8D172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584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BDFA7-FE59-4FA3-84C7-EE36E04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Builder 필수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B37D2-A3B8-46FA-B260-892A067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Builder는 빌드 실행기가 아니라 정책 집행 지점입니다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EFE35-5130-45C0-A032-5829E46F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3257550" cy="3333750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DF606-69FB-4661-929A-E1110624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선언형 Spec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1235A-3CFA-4871-B2BE-99306ABE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image-builder.spec.json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중앙 카테고리 관리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Layer·Target·검증 규칙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3D5DA-60B0-474A-8813-6AD834CD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57550" cy="3333750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08EB0-B185-41F2-8032-632841C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6A34A"/>
                </a:solidFill>
                <a:latin typeface="Apple SD Gothic Neo"/>
                <a:ea typeface="Apple SD Gothic Neo"/>
                <a:cs typeface="Apple SD Gothic Neo"/>
              </a:rPr>
              <a:t>Multi-stage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546C2-57A0-4E22-A5CB-FAAA1568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051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dependency-image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test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release만 Push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테스트 성공 표식 의존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DBBE4-E253-437F-B645-B499182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257550" cy="3333750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5615A-C07F-49F4-9037-27FDA2C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7C3AED"/>
                </a:solidFill>
                <a:latin typeface="Apple SD Gothic Neo"/>
                <a:ea typeface="Apple SD Gothic Neo"/>
                <a:cs typeface="Apple SD Gothic Neo"/>
              </a:rPr>
              <a:t>보안·재현성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EE1FA-9D33-4386-A909-76BECDF3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647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Runtime/Dependency Digest Pin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Lock Hash + Image Digest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non-root USER + latest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9597A-1A99-49E1-B714-1EB79703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248F7-9894-4386-9B41-9E55BD1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 기준: 같은 입력(Runtime Digest + Lock Hash + Python ABI + Target Platform + Builder Spec)에서 재현 가능한 결과를 만들어야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96313-8D49-46DD-B4F3-8F29C395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1D8B1-0D42-4512-9730-8DD950C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2159D-0733-4E10-B487-40326356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1355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EB3B6-234A-4C78-8E9F-A15A00F4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적용 효과 및 판단 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A7940-95AD-4F52-A8B9-375FB5BD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최종 목표는 빠른 빌드가 아니라 운영 가능한 이미지 표준입니다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0893E-9AF5-4DFF-AA85-FF09D25C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04825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1589-367F-4C65-9C3E-9A6F1EFD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DA064-EF4C-4F08-9A32-1161C5C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4171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Dependency Cache HIT 시 Nexus 다운로드와 pip install 생략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Runtime Contract 기준으로 학습/서빙 환경 혼선을 축소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모델 외부화로 이미지 크기와 배포 Rollout 부담 감소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Build Report와 Digest 기록으로 감사·재현성 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14F26-A8D7-48B0-9CA0-863D048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504825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63F77-7537-4EEB-807F-510374D3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3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의사결정 포인트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3318B-C1DD-4D72-95FC-507EAD8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171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Runtime Lineage Catalog를 운영 승인 단위로 둘 것인가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모델 저장소/PVC/Object Storage 주입 방식을 표준화할 것인가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SBOM·Provenance·Signature를 배포 게이트로 강제할 것인가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• Builder Spec 변경 승인 프로세스를 둘 것인가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67DF6-EA76-4584-A32D-35DBA3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권장 결론: Nexus PyPI는 wheel 저장소로 단순화하고, 표준 Builder가 레이어·캐시·보안·재현성을 책임지는 구조로 전환합니다.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3D257-2DEA-4295-B57C-108BA5EA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6C97E-80B6-4BE1-A3DA-4120F13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AI/ML Image Builder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95BE7-22A8-4249-B144-E71A4F0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6295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2026-07-14T13:18:21.3320000Z</dcterms:created>
  <dcterms:modified xsi:type="dcterms:W3CDTF">2026-07-14T13:18:21.3320000Z</dcterms:modified>
</coreProperties>
</file>