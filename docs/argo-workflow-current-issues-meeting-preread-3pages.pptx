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50085be1bf4728" /><Relationship Type="http://schemas.openxmlformats.org/officeDocument/2006/relationships/extended-properties" Target="/docProps/app.xml" Id="R349490f761154c5b" /><Relationship Type="http://schemas.openxmlformats.org/officeDocument/2006/relationships/officeDocument" Target="/ppt/presentation.xml" Id="R3d51c296b177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64258274bd47d3"/>
  </p:sldMasterIdLst>
  <p:notesMasterIdLst>
    <p:notesMasterId xmlns:r="http://schemas.openxmlformats.org/officeDocument/2006/relationships" r:id="R92134e31dcdc4c4d"/>
  </p:notesMasterIdLst>
  <p:sldIdLst>
    <p:sldId xmlns:r="http://schemas.openxmlformats.org/officeDocument/2006/relationships" id="256" r:id="R4e70de84e6fa475e"/>
    <p:sldId xmlns:r="http://schemas.openxmlformats.org/officeDocument/2006/relationships" id="257" r:id="R8108f5f87fef4bdc"/>
    <p:sldId xmlns:r="http://schemas.openxmlformats.org/officeDocument/2006/relationships" id="258" r:id="R8d3043f7852041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bc082ab73c421c" /><Relationship Type="http://schemas.openxmlformats.org/officeDocument/2006/relationships/slideMaster" Target="/ppt/slideMasters/slideMaster1.xml" Id="Rf464258274bd47d3" /><Relationship Type="http://schemas.openxmlformats.org/officeDocument/2006/relationships/notesMaster" Target="/ppt/notesMasters/notesMaster1.xml" Id="R92134e31dcdc4c4d" /><Relationship Type="http://schemas.openxmlformats.org/officeDocument/2006/relationships/presProps" Target="/ppt/presProps.xml" Id="Ra8d34485c9854bca" /><Relationship Type="http://schemas.openxmlformats.org/officeDocument/2006/relationships/tableStyles" Target="/ppt/tableStyles.xml" Id="Reb2769e7d1a643bc" /><Relationship Type="http://schemas.openxmlformats.org/officeDocument/2006/relationships/slide" Target="/ppt/slides/slide1.xml" Id="R4e70de84e6fa475e" /><Relationship Type="http://schemas.openxmlformats.org/officeDocument/2006/relationships/slide" Target="/ppt/slides/slide2.xml" Id="R8108f5f87fef4bdc" /><Relationship Type="http://schemas.openxmlformats.org/officeDocument/2006/relationships/slide" Target="/ppt/slides/slide3.xml" Id="R8d3043f78520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6aef4a1ac743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b8f83b14624425" /><Relationship Type="http://schemas.openxmlformats.org/officeDocument/2006/relationships/notesMaster" Target="/ppt/notesMasters/notesMaster1.xml" Id="Rd90ba316618f4e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fd5901443540be" /><Relationship Type="http://schemas.openxmlformats.org/officeDocument/2006/relationships/notesMaster" Target="/ppt/notesMasters/notesMaster1.xml" Id="R91e103efb16f48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42300386054bdd" /><Relationship Type="http://schemas.openxmlformats.org/officeDocument/2006/relationships/notesMaster" Target="/ppt/notesMasters/notesMaster1.xml" Id="Ra1f033ed6f80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5b4b6a39847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21ed0ace0a4ae6" /><Relationship Type="http://schemas.openxmlformats.org/officeDocument/2006/relationships/slideLayout" Target="/ppt/slideLayouts/slideLayout1.xml" Id="Rc1d7d519ce7d4a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d7d519ce7d4a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8cec4ac3e4415" /><Relationship Type="http://schemas.openxmlformats.org/officeDocument/2006/relationships/notesSlide" Target="/ppt/notesSlides/notesSlide1.xml" Id="R55857bb9255145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16d46ca7a4731" /><Relationship Type="http://schemas.openxmlformats.org/officeDocument/2006/relationships/notesSlide" Target="/ppt/notesSlides/notesSlide2.xml" Id="Rfc8143111398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8f39495724bb0" /><Relationship Type="http://schemas.openxmlformats.org/officeDocument/2006/relationships/notesSlide" Target="/ppt/notesSlides/notesSlide3.xml" Id="Rddbc08ff25e948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-0">
            <a:extLst xmlns:a="http://schemas.openxmlformats.org/drawingml/2006/main">
              <a:ext uri="{FF2B5EF4-FFF2-40B4-BE49-F238E27FC236}">
                <a16:creationId xmlns:a16="http://schemas.microsoft.com/office/drawing/2014/main" id="{BBF4AA63-94C9-4026-AC32-83EE475B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text-56-34">
            <a:extLst xmlns:a="http://schemas.openxmlformats.org/drawingml/2006/main">
              <a:ext uri="{FF2B5EF4-FFF2-40B4-BE49-F238E27FC236}">
                <a16:creationId xmlns:a16="http://schemas.microsoft.com/office/drawing/2014/main" id="{AE84EC0C-6D5F-4BA7-B752-FC7E75E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미팅 사전 참고자료 · 현재 이슈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84D038-E606-4D24-AEAF-FFD5E5D1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32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Python 이미지 빌드 현 이슈를 미팅 전 공유드립니다</a:t>
            </a:r>
          </a:p>
        </p:txBody>
      </p:sp>
      <p:sp>
        <p:nvSpPr>
          <p:cNvPr id="4" name="text-56-136">
            <a:extLst xmlns:a="http://schemas.openxmlformats.org/drawingml/2006/main">
              <a:ext uri="{FF2B5EF4-FFF2-40B4-BE49-F238E27FC236}">
                <a16:creationId xmlns:a16="http://schemas.microsoft.com/office/drawing/2014/main" id="{DD0EC4EC-1788-4231-831C-4E873CBB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아래 네 가지 이슈와 영향 범위를 미리 참고해 주시면 미팅에서 수정 방향을 빠르게 확인할 수 있습니다.</a:t>
            </a:r>
          </a:p>
        </p:txBody>
      </p:sp>
      <p:sp>
        <p:nvSpPr>
          <p:cNvPr id="5" name="shape-56-184">
            <a:extLst xmlns:a="http://schemas.openxmlformats.org/drawingml/2006/main">
              <a:ext uri="{FF2B5EF4-FFF2-40B4-BE49-F238E27FC236}">
                <a16:creationId xmlns:a16="http://schemas.microsoft.com/office/drawing/2014/main" id="{ECC1AE4D-48A5-4863-9268-27461FA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text-70-194">
            <a:extLst xmlns:a="http://schemas.openxmlformats.org/drawingml/2006/main">
              <a:ext uri="{FF2B5EF4-FFF2-40B4-BE49-F238E27FC236}">
                <a16:creationId xmlns:a16="http://schemas.microsoft.com/office/drawing/2014/main" id="{8A89AA30-002E-423D-B349-43C1F2A2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핵심 이슈</a:t>
            </a:r>
          </a:p>
        </p:txBody>
      </p:sp>
      <p:sp>
        <p:nvSpPr>
          <p:cNvPr id="7" name="shape-260-184">
            <a:extLst xmlns:a="http://schemas.openxmlformats.org/drawingml/2006/main">
              <a:ext uri="{FF2B5EF4-FFF2-40B4-BE49-F238E27FC236}">
                <a16:creationId xmlns:a16="http://schemas.microsoft.com/office/drawing/2014/main" id="{53918C00-0FFA-47FF-B85E-212EEB5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3276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text-274-194">
            <a:extLst xmlns:a="http://schemas.openxmlformats.org/drawingml/2006/main">
              <a:ext uri="{FF2B5EF4-FFF2-40B4-BE49-F238E27FC236}">
                <a16:creationId xmlns:a16="http://schemas.microsoft.com/office/drawing/2014/main" id="{2D92A3E1-4F94-4275-A762-5C92B46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4785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현재 상태</a:t>
            </a:r>
          </a:p>
        </p:txBody>
      </p:sp>
      <p:sp>
        <p:nvSpPr>
          <p:cNvPr id="9" name="shape-620-184">
            <a:extLst xmlns:a="http://schemas.openxmlformats.org/drawingml/2006/main">
              <a:ext uri="{FF2B5EF4-FFF2-40B4-BE49-F238E27FC236}">
                <a16:creationId xmlns:a16="http://schemas.microsoft.com/office/drawing/2014/main" id="{0523F031-921A-4C25-98E1-0ECF23AE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3467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text-634-194">
            <a:extLst xmlns:a="http://schemas.openxmlformats.org/drawingml/2006/main">
              <a:ext uri="{FF2B5EF4-FFF2-40B4-BE49-F238E27FC236}">
                <a16:creationId xmlns:a16="http://schemas.microsoft.com/office/drawing/2014/main" id="{42B0501E-2715-49D5-B494-50E48EB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478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발생 영향</a:t>
            </a:r>
          </a:p>
        </p:txBody>
      </p:sp>
      <p:sp>
        <p:nvSpPr>
          <p:cNvPr id="11" name="shape-1000-184">
            <a:extLst xmlns:a="http://schemas.openxmlformats.org/drawingml/2006/main">
              <a:ext uri="{FF2B5EF4-FFF2-40B4-BE49-F238E27FC236}">
                <a16:creationId xmlns:a16="http://schemas.microsoft.com/office/drawing/2014/main" id="{66CBB0B1-4D01-4581-B697-E9B966BC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text-1014-194">
            <a:extLst xmlns:a="http://schemas.openxmlformats.org/drawingml/2006/main">
              <a:ext uri="{FF2B5EF4-FFF2-40B4-BE49-F238E27FC236}">
                <a16:creationId xmlns:a16="http://schemas.microsoft.com/office/drawing/2014/main" id="{3366EF3D-65B6-4BE3-B87A-CA267018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478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수정 방향</a:t>
            </a:r>
          </a:p>
        </p:txBody>
      </p:sp>
      <p:sp>
        <p:nvSpPr>
          <p:cNvPr id="13" name="shape-56-224">
            <a:extLst xmlns:a="http://schemas.openxmlformats.org/drawingml/2006/main">
              <a:ext uri="{FF2B5EF4-FFF2-40B4-BE49-F238E27FC236}">
                <a16:creationId xmlns:a16="http://schemas.microsoft.com/office/drawing/2014/main" id="{FC1F0419-B973-4976-BD2E-6EA12868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790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text-70-240">
            <a:extLst xmlns:a="http://schemas.openxmlformats.org/drawingml/2006/main">
              <a:ext uri="{FF2B5EF4-FFF2-40B4-BE49-F238E27FC236}">
                <a16:creationId xmlns:a16="http://schemas.microsoft.com/office/drawing/2014/main" id="{BDC81015-B1A5-4260-8A8D-E4FE9A97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rPr>
              <a:t>01  폐쇄망·Zeus</a:t>
            </a:r>
          </a:p>
        </p:txBody>
      </p:sp>
      <p:sp>
        <p:nvSpPr>
          <p:cNvPr id="15" name="shape-260-224">
            <a:extLst xmlns:a="http://schemas.openxmlformats.org/drawingml/2006/main">
              <a:ext uri="{FF2B5EF4-FFF2-40B4-BE49-F238E27FC236}">
                <a16:creationId xmlns:a16="http://schemas.microsoft.com/office/drawing/2014/main" id="{EC3CD590-A7DA-45B0-A977-FB203EAB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3276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text-274-240">
            <a:extLst xmlns:a="http://schemas.openxmlformats.org/drawingml/2006/main">
              <a:ext uri="{FF2B5EF4-FFF2-40B4-BE49-F238E27FC236}">
                <a16:creationId xmlns:a16="http://schemas.microsoft.com/office/drawing/2014/main" id="{E2D5E6B8-97AC-4404-A73A-B49E1DD1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860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공개 Image·외부 pip 사용</a:t>
            </a:r>
          </a:p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Zeus Wheel 수집 단계 없음</a:t>
            </a:r>
          </a:p>
        </p:txBody>
      </p:sp>
      <p:sp>
        <p:nvSpPr>
          <p:cNvPr id="17" name="shape-620-224">
            <a:extLst xmlns:a="http://schemas.openxmlformats.org/drawingml/2006/main">
              <a:ext uri="{FF2B5EF4-FFF2-40B4-BE49-F238E27FC236}">
                <a16:creationId xmlns:a16="http://schemas.microsoft.com/office/drawing/2014/main" id="{012D7764-E988-4F47-BF0F-F32645FE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346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text-634-240">
            <a:extLst xmlns:a="http://schemas.openxmlformats.org/drawingml/2006/main">
              <a:ext uri="{FF2B5EF4-FFF2-40B4-BE49-F238E27FC236}">
                <a16:creationId xmlns:a16="http://schemas.microsoft.com/office/drawing/2014/main" id="{4463D887-4C20-439E-A5BC-546B8978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860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폐쇄망에서 패키지 설치 실패</a:t>
            </a:r>
          </a:p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빌드 결과 재현이 어려움</a:t>
            </a:r>
          </a:p>
        </p:txBody>
      </p:sp>
      <p:sp>
        <p:nvSpPr>
          <p:cNvPr id="19" name="shape-1000-224">
            <a:extLst xmlns:a="http://schemas.openxmlformats.org/drawingml/2006/main">
              <a:ext uri="{FF2B5EF4-FFF2-40B4-BE49-F238E27FC236}">
                <a16:creationId xmlns:a16="http://schemas.microsoft.com/office/drawing/2014/main" id="{95774CBF-55D2-49CB-89E9-2FE3143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3360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text-1014-240">
            <a:extLst xmlns:a="http://schemas.openxmlformats.org/drawingml/2006/main">
              <a:ext uri="{FF2B5EF4-FFF2-40B4-BE49-F238E27FC236}">
                <a16:creationId xmlns:a16="http://schemas.microsoft.com/office/drawing/2014/main" id="{204F2BD8-B539-4BA5-BD6E-C29B9F8A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내부 Harbor Digest</a:t>
            </a:r>
          </a:p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Zeus Wheel-only 검토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5467350" y="25527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4708"/>
            </a:solidFill>
            <a:prstDash val="solid"/>
          </a:ln>
        </p:spPr>
      </p:cxnSp>
      <p:cxnSp>
        <p:nvCxnSpPr>
          <p:cNvPr id="79" name=""/>
          <p:cNvCxnSpPr/>
          <p:nvPr/>
        </p:nvCxnSpPr>
        <p:spPr>
          <a:xfrm xmlns:a="http://schemas.openxmlformats.org/drawingml/2006/main">
            <a:off x="9067800" y="25527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</a:ln>
        </p:spPr>
      </p:cxnSp>
      <p:sp>
        <p:nvSpPr>
          <p:cNvPr id="23" name="shape-56-312">
            <a:extLst xmlns:a="http://schemas.openxmlformats.org/drawingml/2006/main">
              <a:ext uri="{FF2B5EF4-FFF2-40B4-BE49-F238E27FC236}">
                <a16:creationId xmlns:a16="http://schemas.microsoft.com/office/drawing/2014/main" id="{5E12254D-D37B-47A9-AE54-071CA621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790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text-70-328">
            <a:extLst xmlns:a="http://schemas.openxmlformats.org/drawingml/2006/main">
              <a:ext uri="{FF2B5EF4-FFF2-40B4-BE49-F238E27FC236}">
                <a16:creationId xmlns:a16="http://schemas.microsoft.com/office/drawing/2014/main" id="{9D9D4C2E-85BF-41C5-9920-54C1C65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rPr>
              <a:t>02  입력 정합성</a:t>
            </a:r>
          </a:p>
        </p:txBody>
      </p:sp>
      <p:sp>
        <p:nvSpPr>
          <p:cNvPr id="25" name="shape-260-312">
            <a:extLst xmlns:a="http://schemas.openxmlformats.org/drawingml/2006/main">
              <a:ext uri="{FF2B5EF4-FFF2-40B4-BE49-F238E27FC236}">
                <a16:creationId xmlns:a16="http://schemas.microsoft.com/office/drawing/2014/main" id="{56225516-E4E6-4E57-B039-52CCDEF3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71800"/>
            <a:ext cx="3276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text-274-328">
            <a:extLst xmlns:a="http://schemas.openxmlformats.org/drawingml/2006/main">
              <a:ext uri="{FF2B5EF4-FFF2-40B4-BE49-F238E27FC236}">
                <a16:creationId xmlns:a16="http://schemas.microsoft.com/office/drawing/2014/main" id="{F7233AFB-5F58-441F-BC71-09E7FBE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242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Runtime Digest가 자리표시자</a:t>
            </a:r>
          </a:p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Lock 누락 시에도 빌드 진행</a:t>
            </a:r>
          </a:p>
        </p:txBody>
      </p:sp>
      <p:sp>
        <p:nvSpPr>
          <p:cNvPr id="27" name="shape-620-312">
            <a:extLst xmlns:a="http://schemas.openxmlformats.org/drawingml/2006/main">
              <a:ext uri="{FF2B5EF4-FFF2-40B4-BE49-F238E27FC236}">
                <a16:creationId xmlns:a16="http://schemas.microsoft.com/office/drawing/2014/main" id="{01E3C472-FE90-4A1A-B4DB-16B650E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346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text-634-328">
            <a:extLst xmlns:a="http://schemas.openxmlformats.org/drawingml/2006/main">
              <a:ext uri="{FF2B5EF4-FFF2-40B4-BE49-F238E27FC236}">
                <a16:creationId xmlns:a16="http://schemas.microsoft.com/office/drawing/2014/main" id="{2C30D62D-C91C-4DE1-8C63-237DD1BD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승인되지 않은 Base 사용 가능</a:t>
            </a:r>
          </a:p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Dependency 변경 추적 불가</a:t>
            </a:r>
          </a:p>
        </p:txBody>
      </p:sp>
      <p:sp>
        <p:nvSpPr>
          <p:cNvPr id="29" name="shape-1000-312">
            <a:extLst xmlns:a="http://schemas.openxmlformats.org/drawingml/2006/main">
              <a:ext uri="{FF2B5EF4-FFF2-40B4-BE49-F238E27FC236}">
                <a16:creationId xmlns:a16="http://schemas.microsoft.com/office/drawing/2014/main" id="{C4AF25AC-D04E-44F2-8256-ECADE470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text-1014-328">
            <a:extLst xmlns:a="http://schemas.openxmlformats.org/drawingml/2006/main">
              <a:ext uri="{FF2B5EF4-FFF2-40B4-BE49-F238E27FC236}">
                <a16:creationId xmlns:a16="http://schemas.microsoft.com/office/drawing/2014/main" id="{C9002AE0-A7BE-40E4-911B-A14A80E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242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Runtime Digest 검증</a:t>
            </a:r>
          </a:p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Lock 필수화 검토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5467350" y="33909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4708"/>
            </a:solidFill>
            <a:prstDash val="solid"/>
          </a:ln>
        </p:spPr>
      </p:cxnSp>
      <p:cxnSp>
        <p:nvCxnSpPr>
          <p:cNvPr id="89" name=""/>
          <p:cNvCxnSpPr/>
          <p:nvPr/>
        </p:nvCxnSpPr>
        <p:spPr>
          <a:xfrm xmlns:a="http://schemas.openxmlformats.org/drawingml/2006/main">
            <a:off x="9067800" y="33909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</a:ln>
        </p:spPr>
      </p:cxnSp>
      <p:sp>
        <p:nvSpPr>
          <p:cNvPr id="33" name="shape-56-400">
            <a:extLst xmlns:a="http://schemas.openxmlformats.org/drawingml/2006/main">
              <a:ext uri="{FF2B5EF4-FFF2-40B4-BE49-F238E27FC236}">
                <a16:creationId xmlns:a16="http://schemas.microsoft.com/office/drawing/2014/main" id="{6EB4CDF2-7483-441E-9F38-360718BB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790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4" name="text-70-416">
            <a:extLst xmlns:a="http://schemas.openxmlformats.org/drawingml/2006/main">
              <a:ext uri="{FF2B5EF4-FFF2-40B4-BE49-F238E27FC236}">
                <a16:creationId xmlns:a16="http://schemas.microsoft.com/office/drawing/2014/main" id="{86EC86FC-F240-4DC3-B732-6B0E6B80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rPr>
              <a:t>03  빌드·배포</a:t>
            </a:r>
          </a:p>
        </p:txBody>
      </p:sp>
      <p:sp>
        <p:nvSpPr>
          <p:cNvPr id="35" name="shape-260-400">
            <a:extLst xmlns:a="http://schemas.openxmlformats.org/drawingml/2006/main">
              <a:ext uri="{FF2B5EF4-FFF2-40B4-BE49-F238E27FC236}">
                <a16:creationId xmlns:a16="http://schemas.microsoft.com/office/drawing/2014/main" id="{CDD676CE-9682-41D2-BAC1-E86F71E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3276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text-274-416">
            <a:extLst xmlns:a="http://schemas.openxmlformats.org/drawingml/2006/main">
              <a:ext uri="{FF2B5EF4-FFF2-40B4-BE49-F238E27FC236}">
                <a16:creationId xmlns:a16="http://schemas.microsoft.com/office/drawing/2014/main" id="{398AFACB-C244-4914-8E64-3305330D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624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Docker Socket·OCI Tar 사용</a:t>
            </a:r>
          </a:p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Build와 Push 경로가 분리</a:t>
            </a:r>
          </a:p>
        </p:txBody>
      </p:sp>
      <p:sp>
        <p:nvSpPr>
          <p:cNvPr id="37" name="shape-620-400">
            <a:extLst xmlns:a="http://schemas.openxmlformats.org/drawingml/2006/main">
              <a:ext uri="{FF2B5EF4-FFF2-40B4-BE49-F238E27FC236}">
                <a16:creationId xmlns:a16="http://schemas.microsoft.com/office/drawing/2014/main" id="{05A1826B-9BDE-4448-9382-0FD9F4BC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346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text-634-416">
            <a:extLst xmlns:a="http://schemas.openxmlformats.org/drawingml/2006/main">
              <a:ext uri="{FF2B5EF4-FFF2-40B4-BE49-F238E27FC236}">
                <a16:creationId xmlns:a16="http://schemas.microsoft.com/office/drawing/2014/main" id="{ED0BFC08-3D3B-4D74-90BE-A6DF5FFB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624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Pod 간 이미지 전달 불명확</a:t>
            </a:r>
          </a:p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배포 경로의 안정성 저하</a:t>
            </a:r>
          </a:p>
        </p:txBody>
      </p:sp>
      <p:sp>
        <p:nvSpPr>
          <p:cNvPr id="39" name="shape-1000-400">
            <a:extLst xmlns:a="http://schemas.openxmlformats.org/drawingml/2006/main">
              <a:ext uri="{FF2B5EF4-FFF2-40B4-BE49-F238E27FC236}">
                <a16:creationId xmlns:a16="http://schemas.microsoft.com/office/drawing/2014/main" id="{580A9058-9D5D-4D77-9E0B-ADD9290E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0" name="text-1014-416">
            <a:extLst xmlns:a="http://schemas.openxmlformats.org/drawingml/2006/main">
              <a:ext uri="{FF2B5EF4-FFF2-40B4-BE49-F238E27FC236}">
                <a16:creationId xmlns:a16="http://schemas.microsoft.com/office/drawing/2014/main" id="{1CCE7957-F758-41CB-82C6-BA783921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624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원격 BuildKit 적용</a:t>
            </a:r>
          </a:p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Release 직접 Push 검토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5467350" y="42291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4708"/>
            </a:solidFill>
            <a:prstDash val="solid"/>
          </a:ln>
        </p:spPr>
      </p:cxnSp>
      <p:cxnSp>
        <p:nvCxnSpPr>
          <p:cNvPr id="99" name=""/>
          <p:cNvCxnSpPr/>
          <p:nvPr/>
        </p:nvCxnSpPr>
        <p:spPr>
          <a:xfrm xmlns:a="http://schemas.openxmlformats.org/drawingml/2006/main">
            <a:off x="9067800" y="42291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</a:ln>
        </p:spPr>
      </p:cxnSp>
      <p:sp>
        <p:nvSpPr>
          <p:cNvPr id="43" name="shape-56-488">
            <a:extLst xmlns:a="http://schemas.openxmlformats.org/drawingml/2006/main">
              <a:ext uri="{FF2B5EF4-FFF2-40B4-BE49-F238E27FC236}">
                <a16:creationId xmlns:a16="http://schemas.microsoft.com/office/drawing/2014/main" id="{D5B8F143-6CE2-4FC5-8857-054AAECE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790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text-70-504">
            <a:extLst xmlns:a="http://schemas.openxmlformats.org/drawingml/2006/main">
              <a:ext uri="{FF2B5EF4-FFF2-40B4-BE49-F238E27FC236}">
                <a16:creationId xmlns:a16="http://schemas.microsoft.com/office/drawing/2014/main" id="{9022716C-0DCD-43E2-A776-7F9835E0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175CD3"/>
                </a:solidFill>
                <a:latin typeface="Nanum Gothic"/>
                <a:ea typeface="Nanum Gothic"/>
                <a:cs typeface="Nanum Gothic"/>
              </a:rPr>
              <a:t>04  Docker Layer</a:t>
            </a:r>
          </a:p>
        </p:txBody>
      </p:sp>
      <p:sp>
        <p:nvSpPr>
          <p:cNvPr id="45" name="shape-260-488">
            <a:extLst xmlns:a="http://schemas.openxmlformats.org/drawingml/2006/main">
              <a:ext uri="{FF2B5EF4-FFF2-40B4-BE49-F238E27FC236}">
                <a16:creationId xmlns:a16="http://schemas.microsoft.com/office/drawing/2014/main" id="{6E49935F-6C1E-4375-BC0A-300B5402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3276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text-274-504">
            <a:extLst xmlns:a="http://schemas.openxmlformats.org/drawingml/2006/main">
              <a:ext uri="{FF2B5EF4-FFF2-40B4-BE49-F238E27FC236}">
                <a16:creationId xmlns:a16="http://schemas.microsoft.com/office/drawing/2014/main" id="{97EBB9B5-BBD1-4659-8E12-D34769B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006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Dockerfile Template 외부 Clone</a:t>
            </a:r>
          </a:p>
          <a:p xmlns:a="http://schemas.openxmlformats.org/drawingml/2006/main">
            <a:pPr algn="l">
              <a:def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COPY·Cache 기준 불명확</a:t>
            </a:r>
          </a:p>
        </p:txBody>
      </p:sp>
      <p:sp>
        <p:nvSpPr>
          <p:cNvPr id="47" name="shape-620-488">
            <a:extLst xmlns:a="http://schemas.openxmlformats.org/drawingml/2006/main">
              <a:ext uri="{FF2B5EF4-FFF2-40B4-BE49-F238E27FC236}">
                <a16:creationId xmlns:a16="http://schemas.microsoft.com/office/drawing/2014/main" id="{CCF4E465-3D9B-4C24-A347-3A9A1A9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3467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8" name="text-634-504">
            <a:extLst xmlns:a="http://schemas.openxmlformats.org/drawingml/2006/main">
              <a:ext uri="{FF2B5EF4-FFF2-40B4-BE49-F238E27FC236}">
                <a16:creationId xmlns:a16="http://schemas.microsoft.com/office/drawing/2014/main" id="{0D50AD44-5827-4564-BA78-837F34A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006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소스 변경 시 Cache 재사용 저하</a:t>
            </a:r>
          </a:p>
          <a:p xmlns:a="http://schemas.openxmlformats.org/drawingml/2006/main">
            <a:pPr algn="l">
              <a:def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B54708"/>
                </a:solidFill>
                <a:latin typeface="Nanum Gothic"/>
                <a:ea typeface="Nanum Gothic"/>
                <a:cs typeface="Nanum Gothic"/>
              </a:rPr>
              <a:t>Release 포함 기준 불명확</a:t>
            </a:r>
          </a:p>
        </p:txBody>
      </p:sp>
      <p:sp>
        <p:nvSpPr>
          <p:cNvPr id="49" name="shape-1000-488">
            <a:extLst xmlns:a="http://schemas.openxmlformats.org/drawingml/2006/main">
              <a:ext uri="{FF2B5EF4-FFF2-40B4-BE49-F238E27FC236}">
                <a16:creationId xmlns:a16="http://schemas.microsoft.com/office/drawing/2014/main" id="{994D23A5-1A17-4A50-964B-0EEF5355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text-1014-504">
            <a:extLst xmlns:a="http://schemas.openxmlformats.org/drawingml/2006/main">
              <a:ext uri="{FF2B5EF4-FFF2-40B4-BE49-F238E27FC236}">
                <a16:creationId xmlns:a16="http://schemas.microsoft.com/office/drawing/2014/main" id="{EA9F1AA1-D9F8-4A1E-A69B-D4A9F12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Template 내장</a:t>
            </a:r>
          </a:p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Registry Cache 분리 검토</a:t>
            </a:r>
          </a:p>
        </p:txBody>
      </p:sp>
      <p:cxnSp>
        <p:nvCxnSpPr>
          <p:cNvPr id="108" name=""/>
          <p:cNvCxnSpPr/>
          <p:nvPr/>
        </p:nvCxnSpPr>
        <p:spPr>
          <a:xfrm xmlns:a="http://schemas.openxmlformats.org/drawingml/2006/main">
            <a:off x="5467350" y="50673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4708"/>
            </a:solidFill>
            <a:prstDash val="solid"/>
          </a:ln>
        </p:spPr>
      </p:cxnSp>
      <p:cxnSp>
        <p:nvCxnSpPr>
          <p:cNvPr id="109" name=""/>
          <p:cNvCxnSpPr/>
          <p:nvPr/>
        </p:nvCxnSpPr>
        <p:spPr>
          <a:xfrm xmlns:a="http://schemas.openxmlformats.org/drawingml/2006/main">
            <a:off x="9067800" y="5067300"/>
            <a:ext cx="2857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</a:ln>
        </p:spPr>
      </p:cxnSp>
      <p:sp>
        <p:nvSpPr>
          <p:cNvPr id="53" name="shape-56-594">
            <a:extLst xmlns:a="http://schemas.openxmlformats.org/drawingml/2006/main">
              <a:ext uri="{FF2B5EF4-FFF2-40B4-BE49-F238E27FC236}">
                <a16:creationId xmlns:a16="http://schemas.microsoft.com/office/drawing/2014/main" id="{A86B3766-C693-409C-95F6-2724C830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  <a:prstDash val="solid"/>
          </a:ln>
        </p:spPr>
      </p:sp>
      <p:sp>
        <p:nvSpPr>
          <p:cNvPr id="54" name="text-82-617">
            <a:extLst xmlns:a="http://schemas.openxmlformats.org/drawingml/2006/main">
              <a:ext uri="{FF2B5EF4-FFF2-40B4-BE49-F238E27FC236}">
                <a16:creationId xmlns:a16="http://schemas.microsoft.com/office/drawing/2014/main" id="{9053C13B-F019-4427-A170-40421384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사전 참고</a:t>
            </a:r>
          </a:p>
        </p:txBody>
      </p:sp>
      <p:sp>
        <p:nvSpPr>
          <p:cNvPr id="55" name="text-218-611">
            <a:extLst xmlns:a="http://schemas.openxmlformats.org/drawingml/2006/main">
              <a:ext uri="{FF2B5EF4-FFF2-40B4-BE49-F238E27FC236}">
                <a16:creationId xmlns:a16="http://schemas.microsoft.com/office/drawing/2014/main" id="{F2D6BE8F-96CF-4A9E-B6E4-A5F82BF8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19775"/>
            <a:ext cx="906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현재 핵심 이슈는 폐쇄망 의존성, 입력 정합성, 빌드 전달 경로, Docker Layer 관리 기준입니다.</a:t>
            </a:r>
          </a:p>
        </p:txBody>
      </p:sp>
      <p:sp>
        <p:nvSpPr>
          <p:cNvPr id="56" name="text-56-686">
            <a:extLst xmlns:a="http://schemas.openxmlformats.org/drawingml/2006/main">
              <a:ext uri="{FF2B5EF4-FFF2-40B4-BE49-F238E27FC236}">
                <a16:creationId xmlns:a16="http://schemas.microsoft.com/office/drawing/2014/main" id="{6A8CC72E-2BE4-4BB7-BDB9-3BDFDBC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rPr>
              <a:t>Python 이미지 빌드 현 이슈 사전 공유</a:t>
            </a:r>
          </a:p>
        </p:txBody>
      </p:sp>
      <p:sp>
        <p:nvSpPr>
          <p:cNvPr id="57" name="text-1168-686">
            <a:extLst xmlns:a="http://schemas.openxmlformats.org/drawingml/2006/main">
              <a:ext uri="{FF2B5EF4-FFF2-40B4-BE49-F238E27FC236}">
                <a16:creationId xmlns:a16="http://schemas.microsoft.com/office/drawing/2014/main" id="{05232612-072E-4F7B-A4C0-2140507E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0059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-0">
            <a:extLst xmlns:a="http://schemas.openxmlformats.org/drawingml/2006/main">
              <a:ext uri="{FF2B5EF4-FFF2-40B4-BE49-F238E27FC236}">
                <a16:creationId xmlns:a16="http://schemas.microsoft.com/office/drawing/2014/main" id="{6B643E04-B7CE-4535-8BA4-DCA53472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E65E0F-3A03-4366-9AEA-19739C2C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307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현재 이슈는 기존 프로세스 전 단계에 연결되어 있습니다</a:t>
            </a:r>
          </a:p>
        </p:txBody>
      </p:sp>
      <p:sp>
        <p:nvSpPr>
          <p:cNvPr id="3" name="text-56-114">
            <a:extLst xmlns:a="http://schemas.openxmlformats.org/drawingml/2006/main">
              <a:ext uri="{FF2B5EF4-FFF2-40B4-BE49-F238E27FC236}">
                <a16:creationId xmlns:a16="http://schemas.microsoft.com/office/drawing/2014/main" id="{3F1F4C04-514E-48C5-A62A-E9545CFA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단계별 기능은 존재하지만 외부 의존과 산출물 전달 방식 때문에 폐쇄망 실행 경로가 이어지지 않습니다.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019300" y="2324100"/>
            <a:ext cx="38100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3886200" y="2324100"/>
            <a:ext cx="38100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5753100" y="2324100"/>
            <a:ext cx="38100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7620000" y="2324100"/>
            <a:ext cx="38100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9486900" y="2324100"/>
            <a:ext cx="38100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2D20"/>
            </a:solidFill>
            <a:prstDash val="solid"/>
          </a:ln>
        </p:spPr>
      </p:cxnSp>
      <p:sp>
        <p:nvSpPr>
          <p:cNvPr id="9" name="shape-56-184">
            <a:extLst xmlns:a="http://schemas.openxmlformats.org/drawingml/2006/main">
              <a:ext uri="{FF2B5EF4-FFF2-40B4-BE49-F238E27FC236}">
                <a16:creationId xmlns:a16="http://schemas.microsoft.com/office/drawing/2014/main" id="{5FF86F7F-A38B-4FCD-B87B-75C1062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485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0" name="text-68-198">
            <a:extLst xmlns:a="http://schemas.openxmlformats.org/drawingml/2006/main">
              <a:ext uri="{FF2B5EF4-FFF2-40B4-BE49-F238E27FC236}">
                <a16:creationId xmlns:a16="http://schemas.microsoft.com/office/drawing/2014/main" id="{BEF83907-8C6C-4357-8F66-83F1DB98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1" name="text-68-228">
            <a:extLst xmlns:a="http://schemas.openxmlformats.org/drawingml/2006/main">
              <a:ext uri="{FF2B5EF4-FFF2-40B4-BE49-F238E27FC236}">
                <a16:creationId xmlns:a16="http://schemas.microsoft.com/office/drawing/2014/main" id="{B1170439-E4FA-4759-A3EA-6068DB30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입력 검증</a:t>
            </a:r>
          </a:p>
        </p:txBody>
      </p:sp>
      <p:sp>
        <p:nvSpPr>
          <p:cNvPr id="12" name="text-68-264">
            <a:extLst xmlns:a="http://schemas.openxmlformats.org/drawingml/2006/main">
              <a:ext uri="{FF2B5EF4-FFF2-40B4-BE49-F238E27FC236}">
                <a16:creationId xmlns:a16="http://schemas.microsoft.com/office/drawing/2014/main" id="{0E0B4AEB-8EFB-4682-804E-D9E1A7B3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Digest 자리표시자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Lock 누락 허용</a:t>
            </a:r>
          </a:p>
        </p:txBody>
      </p:sp>
      <p:sp>
        <p:nvSpPr>
          <p:cNvPr id="13" name="shape-252-184">
            <a:extLst xmlns:a="http://schemas.openxmlformats.org/drawingml/2006/main">
              <a:ext uri="{FF2B5EF4-FFF2-40B4-BE49-F238E27FC236}">
                <a16:creationId xmlns:a16="http://schemas.microsoft.com/office/drawing/2014/main" id="{E52F03A8-23B9-47A2-BC97-B4EB939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1485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4" name="text-264-198">
            <a:extLst xmlns:a="http://schemas.openxmlformats.org/drawingml/2006/main">
              <a:ext uri="{FF2B5EF4-FFF2-40B4-BE49-F238E27FC236}">
                <a16:creationId xmlns:a16="http://schemas.microsoft.com/office/drawing/2014/main" id="{FAB76356-C524-45D9-A572-19AAA16E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85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5" name="text-264-228">
            <a:extLst xmlns:a="http://schemas.openxmlformats.org/drawingml/2006/main">
              <a:ext uri="{FF2B5EF4-FFF2-40B4-BE49-F238E27FC236}">
                <a16:creationId xmlns:a16="http://schemas.microsoft.com/office/drawing/2014/main" id="{77E3DF35-8A7D-41E8-9DD1-9E8F2579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71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소스·Template</a:t>
            </a:r>
          </a:p>
        </p:txBody>
      </p:sp>
      <p:sp>
        <p:nvSpPr>
          <p:cNvPr id="16" name="text-264-264">
            <a:extLst xmlns:a="http://schemas.openxmlformats.org/drawingml/2006/main">
              <a:ext uri="{FF2B5EF4-FFF2-40B4-BE49-F238E27FC236}">
                <a16:creationId xmlns:a16="http://schemas.microsoft.com/office/drawing/2014/main" id="{748EB645-F57B-4114-914F-DBDD7946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14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소스·Template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저장소 분리</a:t>
            </a:r>
          </a:p>
        </p:txBody>
      </p:sp>
      <p:sp>
        <p:nvSpPr>
          <p:cNvPr id="17" name="shape-448-184">
            <a:extLst xmlns:a="http://schemas.openxmlformats.org/drawingml/2006/main">
              <a:ext uri="{FF2B5EF4-FFF2-40B4-BE49-F238E27FC236}">
                <a16:creationId xmlns:a16="http://schemas.microsoft.com/office/drawing/2014/main" id="{3BFDEC39-41A6-4DEE-BBEA-D350ABEC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1485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8" name="text-460-198">
            <a:extLst xmlns:a="http://schemas.openxmlformats.org/drawingml/2006/main">
              <a:ext uri="{FF2B5EF4-FFF2-40B4-BE49-F238E27FC236}">
                <a16:creationId xmlns:a16="http://schemas.microsoft.com/office/drawing/2014/main" id="{28BEA2AB-C654-4D98-BF59-66CB47B1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85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9" name="text-460-228">
            <a:extLst xmlns:a="http://schemas.openxmlformats.org/drawingml/2006/main">
              <a:ext uri="{FF2B5EF4-FFF2-40B4-BE49-F238E27FC236}">
                <a16:creationId xmlns:a16="http://schemas.microsoft.com/office/drawing/2014/main" id="{CE19FC40-DF47-4776-88A1-DB87BC5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패키지·시험</a:t>
            </a:r>
          </a:p>
        </p:txBody>
      </p:sp>
      <p:sp>
        <p:nvSpPr>
          <p:cNvPr id="20" name="text-460-264">
            <a:extLst xmlns:a="http://schemas.openxmlformats.org/drawingml/2006/main">
              <a:ext uri="{FF2B5EF4-FFF2-40B4-BE49-F238E27FC236}">
                <a16:creationId xmlns:a16="http://schemas.microsoft.com/office/drawing/2014/main" id="{2D244763-BFCB-4BAE-8619-1E733EA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Zeus 미적용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외부 pip 사용</a:t>
            </a:r>
          </a:p>
        </p:txBody>
      </p:sp>
      <p:sp>
        <p:nvSpPr>
          <p:cNvPr id="21" name="shape-644-184">
            <a:extLst xmlns:a="http://schemas.openxmlformats.org/drawingml/2006/main">
              <a:ext uri="{FF2B5EF4-FFF2-40B4-BE49-F238E27FC236}">
                <a16:creationId xmlns:a16="http://schemas.microsoft.com/office/drawing/2014/main" id="{5FCAAEC7-59CF-4936-8946-6C00CE05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1485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2" name="text-656-198">
            <a:extLst xmlns:a="http://schemas.openxmlformats.org/drawingml/2006/main">
              <a:ext uri="{FF2B5EF4-FFF2-40B4-BE49-F238E27FC236}">
                <a16:creationId xmlns:a16="http://schemas.microsoft.com/office/drawing/2014/main" id="{B0E1CA4F-99C9-4180-998E-4B9D6F3D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3" name="text-656-228">
            <a:extLst xmlns:a="http://schemas.openxmlformats.org/drawingml/2006/main">
              <a:ext uri="{FF2B5EF4-FFF2-40B4-BE49-F238E27FC236}">
                <a16:creationId xmlns:a16="http://schemas.microsoft.com/office/drawing/2014/main" id="{94BCD7C9-4106-4D01-A73A-323FEFB8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빌드</a:t>
            </a:r>
          </a:p>
        </p:txBody>
      </p:sp>
      <p:sp>
        <p:nvSpPr>
          <p:cNvPr id="24" name="text-656-264">
            <a:extLst xmlns:a="http://schemas.openxmlformats.org/drawingml/2006/main">
              <a:ext uri="{FF2B5EF4-FFF2-40B4-BE49-F238E27FC236}">
                <a16:creationId xmlns:a16="http://schemas.microsoft.com/office/drawing/2014/main" id="{7B84AEB5-E4C0-4C6D-A81F-37222E49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Docker Socket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OCI Tar 생성</a:t>
            </a:r>
          </a:p>
        </p:txBody>
      </p:sp>
      <p:sp>
        <p:nvSpPr>
          <p:cNvPr id="25" name="shape-840-184">
            <a:extLst xmlns:a="http://schemas.openxmlformats.org/drawingml/2006/main">
              <a:ext uri="{FF2B5EF4-FFF2-40B4-BE49-F238E27FC236}">
                <a16:creationId xmlns:a16="http://schemas.microsoft.com/office/drawing/2014/main" id="{AAC54011-1370-4AC5-8323-0A4A57B5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1485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6" name="text-852-198">
            <a:extLst xmlns:a="http://schemas.openxmlformats.org/drawingml/2006/main">
              <a:ext uri="{FF2B5EF4-FFF2-40B4-BE49-F238E27FC236}">
                <a16:creationId xmlns:a16="http://schemas.microsoft.com/office/drawing/2014/main" id="{DBFEC2DC-22A1-411D-9C8B-BB764A22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27" name="text-852-228">
            <a:extLst xmlns:a="http://schemas.openxmlformats.org/drawingml/2006/main">
              <a:ext uri="{FF2B5EF4-FFF2-40B4-BE49-F238E27FC236}">
                <a16:creationId xmlns:a16="http://schemas.microsoft.com/office/drawing/2014/main" id="{814D090E-3707-4265-9681-9E0603B2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Layer·Cache</a:t>
            </a:r>
          </a:p>
        </p:txBody>
      </p:sp>
      <p:sp>
        <p:nvSpPr>
          <p:cNvPr id="28" name="text-852-264">
            <a:extLst xmlns:a="http://schemas.openxmlformats.org/drawingml/2006/main">
              <a:ext uri="{FF2B5EF4-FFF2-40B4-BE49-F238E27FC236}">
                <a16:creationId xmlns:a16="http://schemas.microsoft.com/office/drawing/2014/main" id="{B874EA60-2F6D-4E5E-8E0C-F53813C7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COPY 순서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Cache 기준 없음</a:t>
            </a:r>
          </a:p>
        </p:txBody>
      </p:sp>
      <p:sp>
        <p:nvSpPr>
          <p:cNvPr id="29" name="shape-1036-184">
            <a:extLst xmlns:a="http://schemas.openxmlformats.org/drawingml/2006/main">
              <a:ext uri="{FF2B5EF4-FFF2-40B4-BE49-F238E27FC236}">
                <a16:creationId xmlns:a16="http://schemas.microsoft.com/office/drawing/2014/main" id="{47EFB497-D2F6-4ACF-A587-4DD75B91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52600"/>
            <a:ext cx="1485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0" name="text-1048-198">
            <a:extLst xmlns:a="http://schemas.openxmlformats.org/drawingml/2006/main">
              <a:ext uri="{FF2B5EF4-FFF2-40B4-BE49-F238E27FC236}">
                <a16:creationId xmlns:a16="http://schemas.microsoft.com/office/drawing/2014/main" id="{D1E580FA-0BF9-4B7F-973E-FAB2A700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85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06</a:t>
            </a:r>
          </a:p>
        </p:txBody>
      </p:sp>
      <p:sp>
        <p:nvSpPr>
          <p:cNvPr id="31" name="text-1048-228">
            <a:extLst xmlns:a="http://schemas.openxmlformats.org/drawingml/2006/main">
              <a:ext uri="{FF2B5EF4-FFF2-40B4-BE49-F238E27FC236}">
                <a16:creationId xmlns:a16="http://schemas.microsoft.com/office/drawing/2014/main" id="{70901B53-8564-4D97-ABA2-3CD8134F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717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Push·보고</a:t>
            </a:r>
          </a:p>
        </p:txBody>
      </p:sp>
      <p:sp>
        <p:nvSpPr>
          <p:cNvPr id="32" name="text-1048-264">
            <a:extLst xmlns:a="http://schemas.openxmlformats.org/drawingml/2006/main">
              <a:ext uri="{FF2B5EF4-FFF2-40B4-BE49-F238E27FC236}">
                <a16:creationId xmlns:a16="http://schemas.microsoft.com/office/drawing/2014/main" id="{3733A04D-312B-4973-AC45-26636A77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14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별도 Push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Catalog 미실행</a:t>
            </a:r>
          </a:p>
        </p:txBody>
      </p:sp>
      <p:sp>
        <p:nvSpPr>
          <p:cNvPr id="33" name="text-56-356">
            <a:extLst xmlns:a="http://schemas.openxmlformats.org/drawingml/2006/main">
              <a:ext uri="{FF2B5EF4-FFF2-40B4-BE49-F238E27FC236}">
                <a16:creationId xmlns:a16="http://schemas.microsoft.com/office/drawing/2014/main" id="{9DD43859-298C-47FC-B5D5-FE492AC5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현재 영향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3848100"/>
            <a:ext cx="3238500" cy="1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2D20"/>
            </a:solidFill>
            <a:prstDash val="solid"/>
          </a:ln>
        </p:spPr>
      </p:cxnSp>
      <p:sp>
        <p:nvSpPr>
          <p:cNvPr id="35" name="text-56-426">
            <a:extLst xmlns:a="http://schemas.openxmlformats.org/drawingml/2006/main">
              <a:ext uri="{FF2B5EF4-FFF2-40B4-BE49-F238E27FC236}">
                <a16:creationId xmlns:a16="http://schemas.microsoft.com/office/drawing/2014/main" id="{E4089596-0D09-411B-A270-D4539009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폐쇄망 실행 중단</a:t>
            </a:r>
          </a:p>
        </p:txBody>
      </p:sp>
      <p:sp>
        <p:nvSpPr>
          <p:cNvPr id="36" name="text-56-470">
            <a:extLst xmlns:a="http://schemas.openxmlformats.org/drawingml/2006/main">
              <a:ext uri="{FF2B5EF4-FFF2-40B4-BE49-F238E27FC236}">
                <a16:creationId xmlns:a16="http://schemas.microsoft.com/office/drawing/2014/main" id="{31FF5E2E-A942-46E5-BDAC-B9DF111D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공개 Image·외부 pip에 의존해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패키지 설치와 Tool 실행이 실패할 수 있음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4267200" y="3848100"/>
            <a:ext cx="3238500" cy="1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2D20"/>
            </a:solidFill>
            <a:prstDash val="solid"/>
          </a:ln>
        </p:spPr>
      </p:cxnSp>
      <p:sp>
        <p:nvSpPr>
          <p:cNvPr id="38" name="text-448-426">
            <a:extLst xmlns:a="http://schemas.openxmlformats.org/drawingml/2006/main">
              <a:ext uri="{FF2B5EF4-FFF2-40B4-BE49-F238E27FC236}">
                <a16:creationId xmlns:a16="http://schemas.microsoft.com/office/drawing/2014/main" id="{3F1F5E7B-BA88-4852-9C62-D608C8B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재현성·추적성 저하</a:t>
            </a:r>
          </a:p>
        </p:txBody>
      </p:sp>
      <p:sp>
        <p:nvSpPr>
          <p:cNvPr id="39" name="text-448-470">
            <a:extLst xmlns:a="http://schemas.openxmlformats.org/drawingml/2006/main">
              <a:ext uri="{FF2B5EF4-FFF2-40B4-BE49-F238E27FC236}">
                <a16:creationId xmlns:a16="http://schemas.microsoft.com/office/drawing/2014/main" id="{3098F6E6-0DD2-4A1B-B8A1-BBD3B65A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6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Runtime·Lock·Image Digest가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하나의 기준으로 연결되지 않음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8001000" y="3848100"/>
            <a:ext cx="3238500" cy="1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2D20"/>
            </a:solidFill>
            <a:prstDash val="solid"/>
          </a:ln>
        </p:spPr>
      </p:cxnSp>
      <p:sp>
        <p:nvSpPr>
          <p:cNvPr id="41" name="text-840-426">
            <a:extLst xmlns:a="http://schemas.openxmlformats.org/drawingml/2006/main">
              <a:ext uri="{FF2B5EF4-FFF2-40B4-BE49-F238E27FC236}">
                <a16:creationId xmlns:a16="http://schemas.microsoft.com/office/drawing/2014/main" id="{23E2220C-FAFA-49EE-B1FF-83E63B38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빌드 전달·Cache 불명확</a:t>
            </a:r>
          </a:p>
        </p:txBody>
      </p:sp>
      <p:sp>
        <p:nvSpPr>
          <p:cNvPr id="42" name="text-840-470">
            <a:extLst xmlns:a="http://schemas.openxmlformats.org/drawingml/2006/main">
              <a:ext uri="{FF2B5EF4-FFF2-40B4-BE49-F238E27FC236}">
                <a16:creationId xmlns:a16="http://schemas.microsoft.com/office/drawing/2014/main" id="{6F4CDB52-8727-42F6-A52B-C811B17C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OCI Tar와 별도 Push, Layer 기준 부재로</a:t>
            </a:r>
          </a:p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이미지 전달과 Cache 범위가 불명확</a:t>
            </a:r>
          </a:p>
        </p:txBody>
      </p:sp>
      <p:sp>
        <p:nvSpPr>
          <p:cNvPr id="43" name="shape-56-592">
            <a:extLst xmlns:a="http://schemas.openxmlformats.org/drawingml/2006/main">
              <a:ext uri="{FF2B5EF4-FFF2-40B4-BE49-F238E27FC236}">
                <a16:creationId xmlns:a16="http://schemas.microsoft.com/office/drawing/2014/main" id="{26B9E8BA-F573-4790-8753-028DF39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B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4" name="text-80-614">
            <a:extLst xmlns:a="http://schemas.openxmlformats.org/drawingml/2006/main">
              <a:ext uri="{FF2B5EF4-FFF2-40B4-BE49-F238E27FC236}">
                <a16:creationId xmlns:a16="http://schemas.microsoft.com/office/drawing/2014/main" id="{D5B2AE03-5450-48B1-8CC3-0876D00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핵심 진단</a:t>
            </a:r>
          </a:p>
        </p:txBody>
      </p:sp>
      <p:sp>
        <p:nvSpPr>
          <p:cNvPr id="45" name="text-210-608">
            <a:extLst xmlns:a="http://schemas.openxmlformats.org/drawingml/2006/main">
              <a:ext uri="{FF2B5EF4-FFF2-40B4-BE49-F238E27FC236}">
                <a16:creationId xmlns:a16="http://schemas.microsoft.com/office/drawing/2014/main" id="{5A1B3242-22AE-402F-9F88-D3FF0E0F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912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현재 구조는 각 단계가 존재해도 산출물이 다음 단계로 안전하게 이어지지 않는 상태입니다.</a:t>
            </a:r>
          </a:p>
        </p:txBody>
      </p:sp>
      <p:sp>
        <p:nvSpPr>
          <p:cNvPr id="46" name="text-56-686">
            <a:extLst xmlns:a="http://schemas.openxmlformats.org/drawingml/2006/main">
              <a:ext uri="{FF2B5EF4-FFF2-40B4-BE49-F238E27FC236}">
                <a16:creationId xmlns:a16="http://schemas.microsoft.com/office/drawing/2014/main" id="{67636F44-9062-48D2-8004-DFCA1F78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rPr>
              <a:t>Python 이미지 빌드 현 이슈 사전 공유</a:t>
            </a:r>
          </a:p>
        </p:txBody>
      </p:sp>
      <p:sp>
        <p:nvSpPr>
          <p:cNvPr id="47" name="text-1168-686">
            <a:extLst xmlns:a="http://schemas.openxmlformats.org/drawingml/2006/main">
              <a:ext uri="{FF2B5EF4-FFF2-40B4-BE49-F238E27FC236}">
                <a16:creationId xmlns:a16="http://schemas.microsoft.com/office/drawing/2014/main" id="{7AE5FE1F-F075-4A71-9E55-2FC9237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354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-0">
            <a:extLst xmlns:a="http://schemas.openxmlformats.org/drawingml/2006/main">
              <a:ext uri="{FF2B5EF4-FFF2-40B4-BE49-F238E27FC236}">
                <a16:creationId xmlns:a16="http://schemas.microsoft.com/office/drawing/2014/main" id="{A92B0BA3-4D9F-4333-AA3C-8A960AF5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0DFB7C-9D5D-43BE-9276-D288BBA8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defRPr>
            </a:pPr>
            <a:r>
              <a:rPr sz="3075" b="1">
                <a:solidFill>
                  <a:srgbClr val="101828"/>
                </a:solidFill>
                <a:latin typeface="Nanum Gothic"/>
                <a:ea typeface="Nanum Gothic"/>
                <a:cs typeface="Nanum Gothic"/>
              </a:rPr>
              <a:t>이슈별 수정 방향과 기대 변화는 다음과 같습니다</a:t>
            </a:r>
          </a:p>
        </p:txBody>
      </p:sp>
      <p:sp>
        <p:nvSpPr>
          <p:cNvPr id="3" name="text-56-114">
            <a:extLst xmlns:a="http://schemas.openxmlformats.org/drawingml/2006/main">
              <a:ext uri="{FF2B5EF4-FFF2-40B4-BE49-F238E27FC236}">
                <a16:creationId xmlns:a16="http://schemas.microsoft.com/office/drawing/2014/main" id="{0CDB10DD-E327-4EEC-97CB-3D49D2DB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475467"/>
                </a:solidFill>
                <a:latin typeface="Nanum Gothic"/>
                <a:ea typeface="Nanum Gothic"/>
                <a:cs typeface="Nanum Gothic"/>
              </a:rPr>
              <a:t>완료 결과가 아니라, 현재 이슈를 기준으로 정리한 미팅 사전 검토 방향입니다.</a:t>
            </a:r>
          </a:p>
        </p:txBody>
      </p:sp>
      <p:sp>
        <p:nvSpPr>
          <p:cNvPr id="4" name="shape-56-166">
            <a:extLst xmlns:a="http://schemas.openxmlformats.org/drawingml/2006/main">
              <a:ext uri="{FF2B5EF4-FFF2-40B4-BE49-F238E27FC236}">
                <a16:creationId xmlns:a16="http://schemas.microsoft.com/office/drawing/2014/main" id="{BF4BC2F3-BC16-412E-A505-366D78B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text-70-176">
            <a:extLst xmlns:a="http://schemas.openxmlformats.org/drawingml/2006/main">
              <a:ext uri="{FF2B5EF4-FFF2-40B4-BE49-F238E27FC236}">
                <a16:creationId xmlns:a16="http://schemas.microsoft.com/office/drawing/2014/main" id="{9542AA3D-6D95-4961-8A67-DB89F5EA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현재 이슈</a:t>
            </a:r>
          </a:p>
        </p:txBody>
      </p:sp>
      <p:sp>
        <p:nvSpPr>
          <p:cNvPr id="6" name="shape-276-166">
            <a:extLst xmlns:a="http://schemas.openxmlformats.org/drawingml/2006/main">
              <a:ext uri="{FF2B5EF4-FFF2-40B4-BE49-F238E27FC236}">
                <a16:creationId xmlns:a16="http://schemas.microsoft.com/office/drawing/2014/main" id="{995E4FE9-2771-4349-A762-CB48E3D5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811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-290-176">
            <a:extLst xmlns:a="http://schemas.openxmlformats.org/drawingml/2006/main">
              <a:ext uri="{FF2B5EF4-FFF2-40B4-BE49-F238E27FC236}">
                <a16:creationId xmlns:a16="http://schemas.microsoft.com/office/drawing/2014/main" id="{498F7A60-0DBB-4223-9643-8841F2F7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764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수정 방향</a:t>
            </a:r>
          </a:p>
        </p:txBody>
      </p:sp>
      <p:sp>
        <p:nvSpPr>
          <p:cNvPr id="8" name="shape-694-166">
            <a:extLst xmlns:a="http://schemas.openxmlformats.org/drawingml/2006/main">
              <a:ext uri="{FF2B5EF4-FFF2-40B4-BE49-F238E27FC236}">
                <a16:creationId xmlns:a16="http://schemas.microsoft.com/office/drawing/2014/main" id="{241F7CA1-FEF8-4878-B26A-4C1CB584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81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text-708-176">
            <a:extLst xmlns:a="http://schemas.openxmlformats.org/drawingml/2006/main">
              <a:ext uri="{FF2B5EF4-FFF2-40B4-BE49-F238E27FC236}">
                <a16:creationId xmlns:a16="http://schemas.microsoft.com/office/drawing/2014/main" id="{D33D6195-10A9-474F-94B7-7E42C860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기대 변화</a:t>
            </a:r>
          </a:p>
        </p:txBody>
      </p:sp>
      <p:sp>
        <p:nvSpPr>
          <p:cNvPr id="10" name="shape-56-208">
            <a:extLst xmlns:a="http://schemas.openxmlformats.org/drawingml/2006/main">
              <a:ext uri="{FF2B5EF4-FFF2-40B4-BE49-F238E27FC236}">
                <a16:creationId xmlns:a16="http://schemas.microsoft.com/office/drawing/2014/main" id="{2AC780C1-25CB-4BA0-AE2E-879117A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text-70-224">
            <a:extLst xmlns:a="http://schemas.openxmlformats.org/drawingml/2006/main">
              <a:ext uri="{FF2B5EF4-FFF2-40B4-BE49-F238E27FC236}">
                <a16:creationId xmlns:a16="http://schemas.microsoft.com/office/drawing/2014/main" id="{15C5078D-A631-41C9-947B-B61E5E36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폐쇄망·Zeus</a:t>
            </a:r>
          </a:p>
        </p:txBody>
      </p:sp>
      <p:sp>
        <p:nvSpPr>
          <p:cNvPr id="12" name="shape-276-208">
            <a:extLst xmlns:a="http://schemas.openxmlformats.org/drawingml/2006/main">
              <a:ext uri="{FF2B5EF4-FFF2-40B4-BE49-F238E27FC236}">
                <a16:creationId xmlns:a16="http://schemas.microsoft.com/office/drawing/2014/main" id="{580EE145-E106-49CF-A9CB-487F0B9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81200"/>
            <a:ext cx="382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text-290-224">
            <a:extLst xmlns:a="http://schemas.openxmlformats.org/drawingml/2006/main">
              <a:ext uri="{FF2B5EF4-FFF2-40B4-BE49-F238E27FC236}">
                <a16:creationId xmlns:a16="http://schemas.microsoft.com/office/drawing/2014/main" id="{B681F7AD-4085-4C7C-8193-F88F4ADE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내부 Harbor Image를 Digest로 고정</a:t>
            </a:r>
          </a:p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Zeus Wheel-only + --no-index 검증</a:t>
            </a:r>
          </a:p>
        </p:txBody>
      </p:sp>
      <p:sp>
        <p:nvSpPr>
          <p:cNvPr id="14" name="shape-694-208">
            <a:extLst xmlns:a="http://schemas.openxmlformats.org/drawingml/2006/main">
              <a:ext uri="{FF2B5EF4-FFF2-40B4-BE49-F238E27FC236}">
                <a16:creationId xmlns:a16="http://schemas.microsoft.com/office/drawing/2014/main" id="{9331749D-C581-44EB-845F-FA5A6D2F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504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text-708-224">
            <a:extLst xmlns:a="http://schemas.openxmlformats.org/drawingml/2006/main">
              <a:ext uri="{FF2B5EF4-FFF2-40B4-BE49-F238E27FC236}">
                <a16:creationId xmlns:a16="http://schemas.microsoft.com/office/drawing/2014/main" id="{2406EE07-4348-432C-8229-4558024A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336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외부망 없이 Dependency 설치 가능</a:t>
            </a:r>
          </a:p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동일 Lock 기준으로 빌드 재현</a:t>
            </a:r>
          </a:p>
        </p:txBody>
      </p:sp>
      <p:sp>
        <p:nvSpPr>
          <p:cNvPr id="16" name="shape-56-296">
            <a:extLst xmlns:a="http://schemas.openxmlformats.org/drawingml/2006/main">
              <a:ext uri="{FF2B5EF4-FFF2-40B4-BE49-F238E27FC236}">
                <a16:creationId xmlns:a16="http://schemas.microsoft.com/office/drawing/2014/main" id="{A2047A76-6824-4CC4-9629-A76E8C4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text-70-312">
            <a:extLst xmlns:a="http://schemas.openxmlformats.org/drawingml/2006/main">
              <a:ext uri="{FF2B5EF4-FFF2-40B4-BE49-F238E27FC236}">
                <a16:creationId xmlns:a16="http://schemas.microsoft.com/office/drawing/2014/main" id="{0487F4EF-9CD0-4910-A0E2-F059A232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입력 정합성</a:t>
            </a:r>
          </a:p>
        </p:txBody>
      </p:sp>
      <p:sp>
        <p:nvSpPr>
          <p:cNvPr id="18" name="shape-276-296">
            <a:extLst xmlns:a="http://schemas.openxmlformats.org/drawingml/2006/main">
              <a:ext uri="{FF2B5EF4-FFF2-40B4-BE49-F238E27FC236}">
                <a16:creationId xmlns:a16="http://schemas.microsoft.com/office/drawing/2014/main" id="{2F75AD92-97C9-4FCD-8C5F-1DC98032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9400"/>
            <a:ext cx="382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text-290-312">
            <a:extLst xmlns:a="http://schemas.openxmlformats.org/drawingml/2006/main">
              <a:ext uri="{FF2B5EF4-FFF2-40B4-BE49-F238E27FC236}">
                <a16:creationId xmlns:a16="http://schemas.microsoft.com/office/drawing/2014/main" id="{FF734EF4-A463-4A97-9F72-59F514D4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718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Runtime Digest 형식 검증</a:t>
            </a:r>
          </a:p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Lock 필수화 + SHA-256 Hash</a:t>
            </a:r>
          </a:p>
        </p:txBody>
      </p:sp>
      <p:sp>
        <p:nvSpPr>
          <p:cNvPr id="20" name="shape-694-296">
            <a:extLst xmlns:a="http://schemas.openxmlformats.org/drawingml/2006/main">
              <a:ext uri="{FF2B5EF4-FFF2-40B4-BE49-F238E27FC236}">
                <a16:creationId xmlns:a16="http://schemas.microsoft.com/office/drawing/2014/main" id="{C24CB087-0ED5-4272-83C9-ACBCE8ED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19400"/>
            <a:ext cx="504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text-708-312">
            <a:extLst xmlns:a="http://schemas.openxmlformats.org/drawingml/2006/main">
              <a:ext uri="{FF2B5EF4-FFF2-40B4-BE49-F238E27FC236}">
                <a16:creationId xmlns:a16="http://schemas.microsoft.com/office/drawing/2014/main" id="{37FF5F81-EBF2-4DCD-B313-0BB1487F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승인된 Base와 Dependency만 사용</a:t>
            </a:r>
          </a:p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입력 변경 이력 추적</a:t>
            </a:r>
          </a:p>
        </p:txBody>
      </p:sp>
      <p:sp>
        <p:nvSpPr>
          <p:cNvPr id="22" name="shape-56-384">
            <a:extLst xmlns:a="http://schemas.openxmlformats.org/drawingml/2006/main">
              <a:ext uri="{FF2B5EF4-FFF2-40B4-BE49-F238E27FC236}">
                <a16:creationId xmlns:a16="http://schemas.microsoft.com/office/drawing/2014/main" id="{54AA2F40-E4F2-4CC5-8911-3CD56475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text-70-400">
            <a:extLst xmlns:a="http://schemas.openxmlformats.org/drawingml/2006/main">
              <a:ext uri="{FF2B5EF4-FFF2-40B4-BE49-F238E27FC236}">
                <a16:creationId xmlns:a16="http://schemas.microsoft.com/office/drawing/2014/main" id="{2AD171DD-A296-44C9-8EBE-239B14A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빌드·배포</a:t>
            </a:r>
          </a:p>
        </p:txBody>
      </p:sp>
      <p:sp>
        <p:nvSpPr>
          <p:cNvPr id="24" name="shape-276-384">
            <a:extLst xmlns:a="http://schemas.openxmlformats.org/drawingml/2006/main">
              <a:ext uri="{FF2B5EF4-FFF2-40B4-BE49-F238E27FC236}">
                <a16:creationId xmlns:a16="http://schemas.microsoft.com/office/drawing/2014/main" id="{46ECB113-E5C7-410C-A4E1-893835D9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57600"/>
            <a:ext cx="382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text-290-400">
            <a:extLst xmlns:a="http://schemas.openxmlformats.org/drawingml/2006/main">
              <a:ext uri="{FF2B5EF4-FFF2-40B4-BE49-F238E27FC236}">
                <a16:creationId xmlns:a16="http://schemas.microsoft.com/office/drawing/2014/main" id="{21577F61-5585-474B-AAB0-FC84C46B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원격 BuildKit에서 test 선행</a:t>
            </a:r>
          </a:p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release만 Harbor에 직접 Push</a:t>
            </a:r>
          </a:p>
        </p:txBody>
      </p:sp>
      <p:sp>
        <p:nvSpPr>
          <p:cNvPr id="26" name="shape-694-384">
            <a:extLst xmlns:a="http://schemas.openxmlformats.org/drawingml/2006/main">
              <a:ext uri="{FF2B5EF4-FFF2-40B4-BE49-F238E27FC236}">
                <a16:creationId xmlns:a16="http://schemas.microsoft.com/office/drawing/2014/main" id="{6ACEB5E9-7983-4731-BD1F-2B3C21BF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57600"/>
            <a:ext cx="504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text-708-400">
            <a:extLst xmlns:a="http://schemas.openxmlformats.org/drawingml/2006/main">
              <a:ext uri="{FF2B5EF4-FFF2-40B4-BE49-F238E27FC236}">
                <a16:creationId xmlns:a16="http://schemas.microsoft.com/office/drawing/2014/main" id="{829703A2-1249-44EB-87C9-FEA689F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Docker Socket과 OCI Tar 전달 제거</a:t>
            </a:r>
          </a:p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빌드부터 배포까지 경로 명확화</a:t>
            </a:r>
          </a:p>
        </p:txBody>
      </p:sp>
      <p:sp>
        <p:nvSpPr>
          <p:cNvPr id="28" name="shape-56-472">
            <a:extLst xmlns:a="http://schemas.openxmlformats.org/drawingml/2006/main">
              <a:ext uri="{FF2B5EF4-FFF2-40B4-BE49-F238E27FC236}">
                <a16:creationId xmlns:a16="http://schemas.microsoft.com/office/drawing/2014/main" id="{73687246-A5F7-4AED-BAE1-A3D11EEC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text-70-488">
            <a:extLst xmlns:a="http://schemas.openxmlformats.org/drawingml/2006/main">
              <a:ext uri="{FF2B5EF4-FFF2-40B4-BE49-F238E27FC236}">
                <a16:creationId xmlns:a16="http://schemas.microsoft.com/office/drawing/2014/main" id="{BA299A76-3942-49DD-9C98-706FA9F0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D92D20"/>
                </a:solidFill>
                <a:latin typeface="Nanum Gothic"/>
                <a:ea typeface="Nanum Gothic"/>
                <a:cs typeface="Nanum Gothic"/>
              </a:rPr>
              <a:t>Docker Layer</a:t>
            </a:r>
          </a:p>
        </p:txBody>
      </p:sp>
      <p:sp>
        <p:nvSpPr>
          <p:cNvPr id="30" name="shape-276-472">
            <a:extLst xmlns:a="http://schemas.openxmlformats.org/drawingml/2006/main">
              <a:ext uri="{FF2B5EF4-FFF2-40B4-BE49-F238E27FC236}">
                <a16:creationId xmlns:a16="http://schemas.microsoft.com/office/drawing/2014/main" id="{5F45118A-E314-497C-8FAC-BDF054E5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95800"/>
            <a:ext cx="382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text-290-488">
            <a:extLst xmlns:a="http://schemas.openxmlformats.org/drawingml/2006/main">
              <a:ext uri="{FF2B5EF4-FFF2-40B4-BE49-F238E27FC236}">
                <a16:creationId xmlns:a16="http://schemas.microsoft.com/office/drawing/2014/main" id="{71E00EB6-7C1C-4B32-8AFE-C466956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Template을 Build Tools에 내장</a:t>
            </a:r>
          </a:p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Lock·Wheel 선행 + Registry Cache 분리</a:t>
            </a:r>
          </a:p>
        </p:txBody>
      </p:sp>
      <p:sp>
        <p:nvSpPr>
          <p:cNvPr id="32" name="shape-694-472">
            <a:extLst xmlns:a="http://schemas.openxmlformats.org/drawingml/2006/main">
              <a:ext uri="{FF2B5EF4-FFF2-40B4-BE49-F238E27FC236}">
                <a16:creationId xmlns:a16="http://schemas.microsoft.com/office/drawing/2014/main" id="{0C2FA88A-5A93-4179-98FF-4B68FDEF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504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text-708-488">
            <a:extLst xmlns:a="http://schemas.openxmlformats.org/drawingml/2006/main">
              <a:ext uri="{FF2B5EF4-FFF2-40B4-BE49-F238E27FC236}">
                <a16:creationId xmlns:a16="http://schemas.microsoft.com/office/drawing/2014/main" id="{CA6D149D-1311-4477-979C-113DDAE8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소스 변경 시 Dependency Cache 재사용</a:t>
            </a:r>
          </a:p>
          <a:p xmlns:a="http://schemas.openxmlformats.org/drawingml/2006/main">
            <a:pPr algn="l">
              <a:def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39855"/>
                </a:solidFill>
                <a:latin typeface="Nanum Gothic"/>
                <a:ea typeface="Nanum Gothic"/>
                <a:cs typeface="Nanum Gothic"/>
              </a:rPr>
              <a:t>Release 포함 파일 기준 명확화</a:t>
            </a:r>
          </a:p>
        </p:txBody>
      </p:sp>
      <p:sp>
        <p:nvSpPr>
          <p:cNvPr id="34" name="shape-56-592">
            <a:extLst xmlns:a="http://schemas.openxmlformats.org/drawingml/2006/main">
              <a:ext uri="{FF2B5EF4-FFF2-40B4-BE49-F238E27FC236}">
                <a16:creationId xmlns:a16="http://schemas.microsoft.com/office/drawing/2014/main" id="{4381D0C8-3F54-4DF5-A57E-63271AFB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125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  <a:prstDash val="solid"/>
          </a:ln>
        </p:spPr>
      </p:sp>
      <p:sp>
        <p:nvSpPr>
          <p:cNvPr id="35" name="text-80-614">
            <a:extLst xmlns:a="http://schemas.openxmlformats.org/drawingml/2006/main">
              <a:ext uri="{FF2B5EF4-FFF2-40B4-BE49-F238E27FC236}">
                <a16:creationId xmlns:a16="http://schemas.microsoft.com/office/drawing/2014/main" id="{74FFE201-9027-4E51-8679-0CFBFBA2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00A6A6"/>
                </a:solidFill>
                <a:latin typeface="Nanum Gothic"/>
                <a:ea typeface="Nanum Gothic"/>
                <a:cs typeface="Nanum Gothic"/>
              </a:rPr>
              <a:t>사전 공유 요약</a:t>
            </a:r>
          </a:p>
        </p:txBody>
      </p:sp>
      <p:sp>
        <p:nvSpPr>
          <p:cNvPr id="36" name="text-246-608">
            <a:extLst xmlns:a="http://schemas.openxmlformats.org/drawingml/2006/main">
              <a:ext uri="{FF2B5EF4-FFF2-40B4-BE49-F238E27FC236}">
                <a16:creationId xmlns:a16="http://schemas.microsoft.com/office/drawing/2014/main" id="{3D1DD28F-3F1B-4CAD-A972-D6D4DADB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912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미팅 전 현재 이슈와 영향 범위, 수정 방향에 대한 공통 이해를 위한 자료입니다.</a:t>
            </a:r>
          </a:p>
        </p:txBody>
      </p:sp>
      <p:sp>
        <p:nvSpPr>
          <p:cNvPr id="37" name="text-56-686">
            <a:extLst xmlns:a="http://schemas.openxmlformats.org/drawingml/2006/main">
              <a:ext uri="{FF2B5EF4-FFF2-40B4-BE49-F238E27FC236}">
                <a16:creationId xmlns:a16="http://schemas.microsoft.com/office/drawing/2014/main" id="{D66E6B18-5D24-493E-A60A-9B0EC6AA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rPr>
              <a:t>Python 이미지 빌드 현 이슈 사전 공유</a:t>
            </a:r>
          </a:p>
        </p:txBody>
      </p:sp>
      <p:sp>
        <p:nvSpPr>
          <p:cNvPr id="38" name="text-1168-686">
            <a:extLst xmlns:a="http://schemas.openxmlformats.org/drawingml/2006/main">
              <a:ext uri="{FF2B5EF4-FFF2-40B4-BE49-F238E27FC236}">
                <a16:creationId xmlns:a16="http://schemas.microsoft.com/office/drawing/2014/main" id="{BF429200-A381-4CA8-8B8E-1D36739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667085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1040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2026-07-13T21:53:53.9790000Z</dcterms:created>
  <dcterms:modified xsi:type="dcterms:W3CDTF">2026-07-13T21:53:53.9790000Z</dcterms:modified>
</coreProperties>
</file>